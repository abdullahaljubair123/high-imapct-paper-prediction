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 Medium"/>
      <p:regular r:id="rId201314"/>
    </p:embeddedFont>
    <p:embeddedFont>
      <p:font typeface="Inconsolata"/>
      <p:regular r:id="rId201315"/>
    </p:embeddedFont>
    <p:embeddedFont>
      <p:font typeface="Inconsolata ExtraBold"/>
      <p:regular r:id="rId201316"/>
    </p:embeddedFont>
    <p:embeddedFont>
      <p:font typeface="Inconsolata Black"/>
      <p:regular r:id="rId201317"/>
    </p:embeddedFont>
    <p:embeddedFont>
      <p:font typeface="Inconsolata ExtraLight"/>
      <p:regular r:id="rId201318"/>
    </p:embeddedFont>
    <p:embeddedFont>
      <p:font typeface="Inconsolata Light"/>
      <p:regular r:id="rId201319"/>
    </p:embeddedFont>
    <p:embeddedFont>
      <p:font typeface="Inconsolata SemiBold"/>
      <p:regular r:id="rId201320"/>
    </p:embeddedFont>
    <p:embeddedFont>
      <p:font typeface="Inconsolata Bold"/>
      <p:regular r:id="rId201321"/>
    </p:embeddedFont>
    <p:embeddedFont>
      <p:font typeface="Montserrat Thin"/>
      <p:regular r:id="rId201322"/>
    </p:embeddedFont>
    <p:embeddedFont>
      <p:font typeface="Montserrat"/>
      <p:regular r:id="rId201323"/>
    </p:embeddedFont>
    <p:embeddedFont>
      <p:font typeface="Montserrat SemiBold"/>
      <p:regular r:id="rId201324"/>
    </p:embeddedFont>
    <p:embeddedFont>
      <p:font typeface="Montserrat Bold"/>
      <p:regular r:id="rId201325"/>
    </p:embeddedFont>
    <p:embeddedFont>
      <p:font typeface="Montserrat Black"/>
      <p:regular r:id="rId201326"/>
    </p:embeddedFont>
    <p:embeddedFont>
      <p:font typeface="Montserrat Light"/>
      <p:regular r:id="rId201327"/>
    </p:embeddedFont>
    <p:embeddedFont>
      <p:font typeface="Montserrat ExtraLight"/>
      <p:regular r:id="rId201328"/>
    </p:embeddedFont>
    <p:embeddedFont>
      <p:font typeface="Montserrat Medium"/>
      <p:regular r:id="rId201329"/>
    </p:embeddedFont>
    <p:embeddedFont>
      <p:font typeface="Montserrat ExtraBold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Predicting High‑Impact AI &amp; Climate Papers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Early prediction of whether AI + climate/sustainability papers (2020–2024) will become highly cited using OpenAlex metadata and PySpark-based ML.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77107"/>
            <a:ext cx="40851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Research Question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032695"/>
            <a:ext cx="2290465" cy="1733624"/>
          </a:xfrm>
          <a:prstGeom prst="roundRect">
            <a:avLst>
              <a:gd name="adj" fmla="val 330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2640" y="21792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Primary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485727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Can early OpenAlex metadata predict top‑10% cited AI + climate papers?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2032695"/>
            <a:ext cx="2290539" cy="1733624"/>
          </a:xfrm>
          <a:prstGeom prst="roundRect">
            <a:avLst>
              <a:gd name="adj" fmla="val 330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074863" y="21792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Subquestions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485727"/>
            <a:ext cx="199749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features matter most? Role of open access, collaboration, topic, venue, early citations? Best ML model?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50458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Source &amp; Scope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227134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details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634555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Source: OpenAlex API. Scope: AI + climate/sustainability papers, 2020–2024. Data: research paper metadata used to build labels and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8178"/>
            <a:ext cx="514893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Main Features Extracted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24682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6246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Title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1931194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Paper title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624682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16246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Publication year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1931194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Year of publication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4152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2441525"/>
            <a:ext cx="264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Author &amp; Institution counts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2748037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Author count, institution count, country count (international collaboration)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441525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Open access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2748037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Whether paper is freely available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485183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7658" y="34851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Topic / Venue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027658" y="3791694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AI, climate, energy keywords and journal/conference source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553" y="3485183"/>
            <a:ext cx="354360" cy="35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92092" y="34851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Citations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92092" y="3791694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Early citation counts; total citations used to create label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60497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Labeling: High‑Impact vs Not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445841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Label: Top 10% cited papers → "High‑impact". Remaining 90% → "Not high‑impact". Total citations (post‑window) determine thresholds.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888"/>
            <a:ext cx="62793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End‑to‑End Pipeline (PySpark)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261393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503534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Label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Clean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Filter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Collect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817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PySpark handles scalable cleaning, joins, feature engineering, and model training for large OpenAlex metadata sets.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9088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Models Evaluated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17390"/>
            <a:ext cx="419100" cy="523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2217390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745358"/>
            <a:ext cx="130872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Baseline interpretable classifier.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217390"/>
            <a:ext cx="419100" cy="523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2217390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745358"/>
            <a:ext cx="13087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Ensemble for nonlinearity and feature importance.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217390"/>
            <a:ext cx="419100" cy="523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2217390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Gradient‑Boosted Trees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2745358"/>
            <a:ext cx="13087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 accuracy for structured metadata.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217390"/>
            <a:ext cx="419100" cy="523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2217390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XGBoost / LightGBM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2745358"/>
            <a:ext cx="13087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Optional fast, scalable boosting libraries.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4158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Evaluation &amp; Metrics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290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Compare models using Accuracy, Precision, Recall, F1‑score, and ROC‑AUC. (Placeholder chart shown; populate with experiment results.)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749701" y="2302818"/>
            <a:ext cx="3902943" cy="1006376"/>
          </a:xfrm>
          <a:prstGeom prst="roundRect">
            <a:avLst>
              <a:gd name="adj" fmla="val 568"/>
            </a:avLst>
          </a:prstGeom>
          <a:solidFill>
            <a:srgbClr val="E4E6E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513112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0398" y="2465784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Report per‑model metrics and choose model balancing recall for high‑impact detection and precision for precision of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951"/>
            <a:ext cx="622347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 Importance &amp; Insights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5253"/>
            <a:ext cx="5179516" cy="2935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0767" y="1184672"/>
            <a:ext cx="2631877" cy="262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Early citation count — strong predictive signal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International collaboration (country counts) — increases visibility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Author &amp; institution counts — mixed effects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Open access — potential boost in citations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Topic and venue — disciplinary and venue prestige matter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20767" y="3936578"/>
            <a:ext cx="263187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 model explainability (feature importance, SHAP) to quantify effects and guide interpretation.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37654"/>
            <a:ext cx="47896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Outcome &amp; Next Steps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293242"/>
            <a:ext cx="2290465" cy="1762199"/>
          </a:xfrm>
          <a:prstGeom prst="roundRect">
            <a:avLst>
              <a:gd name="adj" fmla="val 324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85927" y="14540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Deliverables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85927" y="1760562"/>
            <a:ext cx="19688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Clean OpenAlex dataset, PySpark pipeline, trained models, evaluation results, feature‑importance analysis.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293242"/>
            <a:ext cx="2290539" cy="1762199"/>
          </a:xfrm>
          <a:prstGeom prst="roundRect">
            <a:avLst>
              <a:gd name="adj" fmla="val 324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18151" y="14540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Research Output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8151" y="1760562"/>
            <a:ext cx="19689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Publishable paper demonstrating early citation prediction for AI + climate scholarship.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7200"/>
            <a:ext cx="4722763" cy="1308571"/>
          </a:xfrm>
          <a:prstGeom prst="roundRect">
            <a:avLst>
              <a:gd name="adj" fmla="val 437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85927" y="33580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85927" y="3664521"/>
            <a:ext cx="44011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Refine features (text embeddings, altmetrics), calibrate thresholds, deploy model for early discovery and recommendations.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2026-07-05T15:28:21Z</dcterms:created>
  <dcterms:modified xsi:type="dcterms:W3CDTF">2026-07-05T15:28:21Z</dcterms:modified>
</cp:coreProperties>
</file>